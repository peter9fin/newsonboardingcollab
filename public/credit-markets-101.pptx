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What’s the difference between investment grade and high yield debt?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What typically causes a company to become distressed?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What does it mean when bonds trade below ~80?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Who sits at the top of the capital structure waterfall?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What’s usually wiped out first in a restructuring?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What does “fallen angel” mean?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Why is debt generally cheaper than equity?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What is the purpose of an RCF?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What’s the main goal of a restructuring?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What’s the difference between secured and unsecured debt?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22800" y="-374050"/>
            <a:ext cx="4114800" cy="64008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098280" y="0"/>
            <a:ext cx="45720" cy="514350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1645920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457200" y="1234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417320"/>
            <a:ext cx="5303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Restructuring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Credit Markets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429000"/>
            <a:ext cx="2286000" cy="4572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356616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6400"/>
              <a:buFont typeface="Trebuchet MS"/>
              <a:buNone/>
            </a:pPr>
            <a:r>
              <a:rPr b="1" i="0" lang="en-US" sz="6400" u="none" cap="none" strike="noStrike">
                <a:solidFill>
                  <a:srgbClr val="0591F4"/>
                </a:solidFill>
                <a:latin typeface="Trebuchet MS"/>
                <a:ea typeface="Trebuchet MS"/>
                <a:cs typeface="Trebuchet MS"/>
                <a:sym typeface="Trebuchet MS"/>
              </a:rPr>
              <a:t>101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452628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A Beginner's Guide to Investment Grade,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High Yield &amp; Distressed Debt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217920" y="731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1F4"/>
                </a:solidFill>
                <a:latin typeface="Calibri"/>
                <a:ea typeface="Calibri"/>
                <a:cs typeface="Calibri"/>
                <a:sym typeface="Calibri"/>
              </a:rPr>
              <a:t>WHAT YOU'LL LEARN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263640" y="1170432"/>
            <a:ext cx="91440" cy="91440"/>
          </a:xfrm>
          <a:prstGeom prst="ellipse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492240" y="1097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Corporate Credit Landscape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263640" y="1673352"/>
            <a:ext cx="91440" cy="91440"/>
          </a:xfrm>
          <a:prstGeom prst="ellipse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492240" y="16002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Capital Structures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263640" y="2176272"/>
            <a:ext cx="91440" cy="91440"/>
          </a:xfrm>
          <a:prstGeom prst="ellipse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492240" y="21031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Financial Distress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263640" y="2679192"/>
            <a:ext cx="91440" cy="91440"/>
          </a:xfrm>
          <a:prstGeom prst="ellipse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92240" y="26060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Restructuring Processes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263640" y="3182112"/>
            <a:ext cx="91500" cy="91500"/>
          </a:xfrm>
          <a:prstGeom prst="ellipse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492215" y="318211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Investor Perspective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C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263640" y="3685032"/>
            <a:ext cx="91500" cy="91500"/>
          </a:xfrm>
          <a:prstGeom prst="ellipse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492240" y="3684616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Trading &amp; Market Language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22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11480" y="292608"/>
            <a:ext cx="2121408" cy="256032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11480" y="292608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01 /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11480" y="62179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Corporate Credit?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How companies borrow and why it matters to investors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84048" y="1600200"/>
            <a:ext cx="2011680" cy="14630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84048" y="1600200"/>
            <a:ext cx="2011680" cy="640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21208" y="17190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Loans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21208" y="2075688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Direct bank lending, often secured, with covenants and flexible terms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532888" y="1600200"/>
            <a:ext cx="2011680" cy="14630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532888" y="1600200"/>
            <a:ext cx="201168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0048" y="17190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Bonds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0048" y="2075688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Tradeable debt securities issued to public or private markets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681728" y="1600200"/>
            <a:ext cx="2011680" cy="14630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681728" y="1600200"/>
            <a:ext cx="2011680" cy="64008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818888" y="17190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RCFs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818888" y="2075688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Revolving credit facilities — flexible liquidity drawn as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830568" y="1600200"/>
            <a:ext cx="2011680" cy="14630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830568" y="1600200"/>
            <a:ext cx="2011680" cy="64008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967728" y="17190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Private Credit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67728" y="2075688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Direct lending from non-bank lenders, growing rapidly post-GFC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84048" y="3200400"/>
            <a:ext cx="4160520" cy="1572768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48640" y="33101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Companies Borrow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48640" y="365760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Growth &amp; capex investment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Acquisitions &amp; M&amp;A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Refinancing existing maturities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Managing day-to-day liquidity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754880" y="3200400"/>
            <a:ext cx="4005072" cy="1572768"/>
          </a:xfrm>
          <a:prstGeom prst="rect">
            <a:avLst/>
          </a:prstGeom>
          <a:solidFill>
            <a:srgbClr val="1A2438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754880" y="3200400"/>
            <a:ext cx="54864" cy="1572768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919472" y="33101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1F4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919472" y="3611880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Debt is cheaper than equity — but too much debt creates refinancing risk and increases the probability of default.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22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11480" y="292608"/>
            <a:ext cx="2670048" cy="256032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11480" y="292608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02 / MARKET LANDSCAPE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11480" y="62179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Credit Market Spectrum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From investment grade to distressed — risk, yield and what divides them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84048" y="1572768"/>
            <a:ext cx="2697480" cy="324612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84048" y="1572768"/>
            <a:ext cx="2697480" cy="7315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48640" y="171907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INVESTMENT GRADE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48640" y="20299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Lower risk · Lower yield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8640" y="2286000"/>
            <a:ext cx="2148840" cy="9144"/>
          </a:xfrm>
          <a:prstGeom prst="rect">
            <a:avLst/>
          </a:prstGeom>
          <a:solidFill>
            <a:srgbClr val="1F2D45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85216" y="2414016"/>
            <a:ext cx="82296" cy="82296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49808" y="23591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Stronger balance sheets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85216" y="2816352"/>
            <a:ext cx="82296" cy="82296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49808" y="276148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Lower default probability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85216" y="3218688"/>
            <a:ext cx="82296" cy="82296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749808" y="316382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High institutional demand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85216" y="3621024"/>
            <a:ext cx="82296" cy="82296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49808" y="35661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Tighter credit spreads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4297680"/>
            <a:ext cx="2148840" cy="9144"/>
          </a:xfrm>
          <a:prstGeom prst="rect">
            <a:avLst/>
          </a:prstGeom>
          <a:solidFill>
            <a:srgbClr val="1F2D45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48640" y="435254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EG: Apple · Microsoft · Nestlé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246120" y="1572768"/>
            <a:ext cx="2697480" cy="324612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246120" y="1572768"/>
            <a:ext cx="269748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3410712" y="171907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HIGH YIELD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410712" y="20299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Higher leverage · Higher yield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410712" y="2286000"/>
            <a:ext cx="2148840" cy="9144"/>
          </a:xfrm>
          <a:prstGeom prst="rect">
            <a:avLst/>
          </a:prstGeom>
          <a:solidFill>
            <a:srgbClr val="1F2D45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3447288" y="2414016"/>
            <a:ext cx="82296" cy="8229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3611880" y="23591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More leveraged capital structures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447288" y="2816352"/>
            <a:ext cx="82296" cy="8229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611880" y="276148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Higher coupon payments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447288" y="3218688"/>
            <a:ext cx="82296" cy="8229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611880" y="316382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Greater sensitivity to cycles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447288" y="3621024"/>
            <a:ext cx="82296" cy="8229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611880" y="35661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Covenant-heavy documentation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410712" y="4297680"/>
            <a:ext cx="2148840" cy="9144"/>
          </a:xfrm>
          <a:prstGeom prst="rect">
            <a:avLst/>
          </a:prstGeom>
          <a:solidFill>
            <a:srgbClr val="1F2D45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410712" y="435254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EG: Telecoms · Retailers · Cyclicals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108192" y="1572768"/>
            <a:ext cx="2697480" cy="324612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108192" y="1572768"/>
            <a:ext cx="2697480" cy="7315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272784" y="171907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DISTRESSED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272784" y="20299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Severe stress · Recovery focus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272784" y="2286000"/>
            <a:ext cx="2148840" cy="9144"/>
          </a:xfrm>
          <a:prstGeom prst="rect">
            <a:avLst/>
          </a:prstGeom>
          <a:solidFill>
            <a:srgbClr val="1F2D45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309360" y="2414016"/>
            <a:ext cx="82296" cy="8229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473952" y="23591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Bonds trade below ~80¢ on $1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309360" y="2816352"/>
            <a:ext cx="82296" cy="8229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473952" y="276148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Restructuring or default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309360" y="3218688"/>
            <a:ext cx="82296" cy="8229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473952" y="316382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Hedge fund / specialist buyers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309360" y="3621024"/>
            <a:ext cx="82296" cy="8229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473952" y="35661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Recovery value drives pricing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272784" y="4297680"/>
            <a:ext cx="2148840" cy="9144"/>
          </a:xfrm>
          <a:prstGeom prst="rect">
            <a:avLst/>
          </a:prstGeom>
          <a:solidFill>
            <a:srgbClr val="1F2D45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272784" y="435254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EG: Retail defaults · LBO blow-ups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84048" y="4846320"/>
            <a:ext cx="8366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591F4"/>
                </a:solidFill>
                <a:latin typeface="Calibri"/>
                <a:ea typeface="Calibri"/>
                <a:cs typeface="Calibri"/>
                <a:sym typeface="Calibri"/>
              </a:rPr>
              <a:t>⟶  Fallen Angels: IG issuers downgraded into HY / Distressed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22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11480" y="292608"/>
            <a:ext cx="2779776" cy="256032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11480" y="292608"/>
            <a:ext cx="27797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03 / CAPITAL 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11480" y="62179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Debt Waterfall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Priority of claims determines who gets paid first in a restructuring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84048" y="1481328"/>
            <a:ext cx="4114800" cy="4572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384048" y="1481328"/>
            <a:ext cx="4114800" cy="457200"/>
          </a:xfrm>
          <a:prstGeom prst="rect">
            <a:avLst/>
          </a:prstGeom>
          <a:solidFill>
            <a:srgbClr val="1D6FA4">
              <a:alpha val="85098"/>
            </a:srgbClr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548640" y="15270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1. Super Senior (e.g. RCF)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171907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Highest priority · Typically revolving facility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84048" y="2029968"/>
            <a:ext cx="5029200" cy="4572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384048" y="2029968"/>
            <a:ext cx="5029200" cy="457200"/>
          </a:xfrm>
          <a:prstGeom prst="rect">
            <a:avLst/>
          </a:prstGeom>
          <a:solidFill>
            <a:srgbClr val="2E8BC0">
              <a:alpha val="85098"/>
            </a:srgbClr>
          </a:solidFill>
          <a:ln cap="flat" cmpd="sng" w="12700">
            <a:solidFill>
              <a:srgbClr val="2E8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548640" y="2075688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2. Senior Secured (1st Lien)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2267712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Secured on company assets · First loss protection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84048" y="2578608"/>
            <a:ext cx="5760720" cy="4572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384048" y="2578608"/>
            <a:ext cx="5760720" cy="457200"/>
          </a:xfrm>
          <a:prstGeom prst="rect">
            <a:avLst/>
          </a:prstGeom>
          <a:solidFill>
            <a:srgbClr val="3DA5D9">
              <a:alpha val="85098"/>
            </a:srgbClr>
          </a:solidFill>
          <a:ln cap="flat" cmpd="sng" w="12700">
            <a:solidFill>
              <a:srgbClr val="3DA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48640" y="26243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3. Senior Secured (2nd Lien)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48640" y="28163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Secured but behind 1st lien claims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84048" y="3127248"/>
            <a:ext cx="6583680" cy="4572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84048" y="3127248"/>
            <a:ext cx="6583680" cy="457200"/>
          </a:xfrm>
          <a:prstGeom prst="rect">
            <a:avLst/>
          </a:prstGeom>
          <a:solidFill>
            <a:srgbClr val="F59E0B">
              <a:alpha val="8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48640" y="3172968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4. Senior Unsecured Bonds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48640" y="3364992"/>
            <a:ext cx="6309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No collateral backing · Depends on enterprise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84048" y="3675888"/>
            <a:ext cx="7498080" cy="4572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84048" y="3675888"/>
            <a:ext cx="7498080" cy="457200"/>
          </a:xfrm>
          <a:prstGeom prst="rect">
            <a:avLst/>
          </a:prstGeom>
          <a:solidFill>
            <a:srgbClr val="0070CC">
              <a:alpha val="85098"/>
            </a:srgbClr>
          </a:solidFill>
          <a:ln cap="flat" cmpd="sng" w="12700">
            <a:solidFill>
              <a:srgbClr val="007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48640" y="372160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5. Subordinated / PIK Debt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3913632"/>
            <a:ext cx="7223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Below senior unsecured · Higher risk, higher coupon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84048" y="4224528"/>
            <a:ext cx="8321040" cy="4572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84048" y="4224528"/>
            <a:ext cx="8321040" cy="457200"/>
          </a:xfrm>
          <a:prstGeom prst="rect">
            <a:avLst/>
          </a:prstGeom>
          <a:solidFill>
            <a:srgbClr val="EF4444">
              <a:alpha val="8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48640" y="427024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6. Equity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4462272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Last in line — first to be wiped out in distress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503920" y="1481328"/>
            <a:ext cx="91440" cy="1975104"/>
          </a:xfrm>
          <a:prstGeom prst="rect">
            <a:avLst/>
          </a:prstGeom>
          <a:solidFill>
            <a:srgbClr val="3DC78C"/>
          </a:solidFill>
          <a:ln cap="flat" cmpd="sng" w="12700">
            <a:solidFill>
              <a:srgbClr val="3DC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503920" y="3456432"/>
            <a:ext cx="91440" cy="131673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22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11480" y="292608"/>
            <a:ext cx="1792224" cy="256032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11480" y="292608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04 / DISTRESS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11480" y="62179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Causes Financial Distress?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Triggers, warning signals, and real-world catalysts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84048" y="1600200"/>
            <a:ext cx="2697480" cy="12344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21208" y="17099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069848" y="172821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High Leverage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21208" y="2221992"/>
            <a:ext cx="2423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Debt load exceeds capacity of earnings to service 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246120" y="1600200"/>
            <a:ext cx="2697480" cy="12344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383280" y="17099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931920" y="172821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Rising Rates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383280" y="2221992"/>
            <a:ext cx="2423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Floating rate debt becomes more expensive; refinancing harder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108192" y="1600200"/>
            <a:ext cx="2697480" cy="12344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6245352" y="17099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793992" y="172821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Weak Earnings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245352" y="2221992"/>
            <a:ext cx="2423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EBITDA declines compress coverage ratios and free cash 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84048" y="3017520"/>
            <a:ext cx="2697480" cy="12344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21208" y="31272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069848" y="314553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Liquidity Shortage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21208" y="3639312"/>
            <a:ext cx="2423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Insufficient cash to meet near-term obligations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246120" y="3017520"/>
            <a:ext cx="2697480" cy="12344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383280" y="31272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931920" y="314553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Maturity Walls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383280" y="3639312"/>
            <a:ext cx="2423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Concentration of debt coming due at the same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108192" y="3017520"/>
            <a:ext cx="2697480" cy="123444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245352" y="31272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793992" y="314553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Covenant Breaches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245352" y="3639312"/>
            <a:ext cx="2423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Triggers lender rights including acceleration of debt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84048" y="4480560"/>
            <a:ext cx="8366760" cy="530352"/>
          </a:xfrm>
          <a:prstGeom prst="rect">
            <a:avLst/>
          </a:prstGeom>
          <a:solidFill>
            <a:srgbClr val="1A1220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84048" y="4480560"/>
            <a:ext cx="8366760" cy="3657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48640" y="45720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⚠  WARNING SIGNS: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2468880" y="457200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Ratings downgrades  ·  Delayed reporting  ·  Missed guidance  ·  Bonds trading sharply lower  ·  Adviser appointments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22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11480" y="292608"/>
            <a:ext cx="2340864" cy="256032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11480" y="292608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05 / RESTRUCTURING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11480" y="62179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 Restructuring?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Common tools companies use to address financial stress before reaching insolvency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84048" y="1572768"/>
            <a:ext cx="8366760" cy="457200"/>
          </a:xfrm>
          <a:prstGeom prst="rect">
            <a:avLst/>
          </a:prstGeom>
          <a:solidFill>
            <a:srgbClr val="131D30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84048" y="1572768"/>
            <a:ext cx="54864" cy="4572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566928" y="1664208"/>
            <a:ext cx="8092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Goal: Improve liquidity, reduce leverage, and preserve enterprise value — avoiding formal insolvency proceedings.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84048" y="2176272"/>
            <a:ext cx="2697480" cy="11430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21208" y="2286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Trebuchet MS"/>
                <a:ea typeface="Trebuchet MS"/>
                <a:cs typeface="Trebuchet MS"/>
                <a:sym typeface="Trebuchet MS"/>
              </a:rPr>
              <a:t>A&amp;E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33856" y="22677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Amend &amp; Extend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21208" y="263347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Extend debt maturities (and often amend terms) to buy time, avoiding immediate default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246120" y="2176272"/>
            <a:ext cx="2697480" cy="11430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383280" y="2286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Trebuchet MS"/>
                <a:ea typeface="Trebuchet MS"/>
                <a:cs typeface="Trebuchet MS"/>
                <a:sym typeface="Trebuchet MS"/>
              </a:rPr>
              <a:t>D/E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995928" y="22677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Debt-for-Equity Swap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3383280" y="263347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Creditors convert debt into equity; reduces leverage but dilutes/wipes existing shareholders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108192" y="2176272"/>
            <a:ext cx="2697480" cy="11430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245352" y="22860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Trebuchet MS"/>
                <a:ea typeface="Trebuchet MS"/>
                <a:cs typeface="Trebuchet MS"/>
                <a:sym typeface="Trebuchet MS"/>
              </a:rPr>
              <a:t>NM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858000" y="22677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New Money Raise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245352" y="263347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Fresh capital injected — often with priority claims — to shore up liquidity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801368" y="3456432"/>
            <a:ext cx="2697480" cy="11430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938528" y="356616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Trebuchet MS"/>
                <a:ea typeface="Trebuchet MS"/>
                <a:cs typeface="Trebuchet MS"/>
                <a:sym typeface="Trebuchet MS"/>
              </a:rPr>
              <a:t>LME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551176" y="35478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Liability Management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938528" y="391363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Exchange offers, uptiers, drop-downs — restructuring debt without formal process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663440" y="3456432"/>
            <a:ext cx="2697480" cy="11430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800600" y="356616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Trebuchet MS"/>
                <a:ea typeface="Trebuchet MS"/>
                <a:cs typeface="Trebuchet MS"/>
                <a:sym typeface="Trebuchet MS"/>
              </a:rPr>
              <a:t>RECAP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413248" y="35478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Recapitalisation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00600" y="391363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Broad restructuring of the whole balance sheet, often combining multiple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22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411480" y="292608"/>
            <a:ext cx="1682496" cy="256032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11480" y="292608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07 / PROCESS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11480" y="62179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Restructuring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From first signs of stress to implementation — who does what and when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68096" y="2551176"/>
            <a:ext cx="7726680" cy="36576"/>
          </a:xfrm>
          <a:prstGeom prst="rect">
            <a:avLst/>
          </a:prstGeom>
          <a:solidFill>
            <a:srgbClr val="1F2D45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85216" y="2377440"/>
            <a:ext cx="384048" cy="38404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85216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E1A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29768" y="2880360"/>
            <a:ext cx="1078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Stress Emerges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29768" y="3246120"/>
            <a:ext cx="1078992" cy="128016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93776" y="3337560"/>
            <a:ext cx="9692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Liquidity crunch, missed guidance, bonds trade 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755648" y="2377440"/>
            <a:ext cx="384048" cy="384048"/>
          </a:xfrm>
          <a:prstGeom prst="ellipse">
            <a:avLst/>
          </a:prstGeom>
          <a:solidFill>
            <a:srgbClr val="0070CC"/>
          </a:solidFill>
          <a:ln cap="flat" cmpd="sng" w="12700">
            <a:solidFill>
              <a:srgbClr val="007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755648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E1A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600200" y="2880360"/>
            <a:ext cx="1078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Advisers Hired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600200" y="3246120"/>
            <a:ext cx="1078992" cy="128016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664208" y="3337560"/>
            <a:ext cx="9692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Company retains financial &amp; legal advisers; creditors form groups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926080" y="2377440"/>
            <a:ext cx="384048" cy="38404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2926080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E1A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2770632" y="2880360"/>
            <a:ext cx="1078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Groups 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2770632" y="3246120"/>
            <a:ext cx="1078992" cy="128016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2834640" y="3337560"/>
            <a:ext cx="9692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Ad hoc creditor committees assemble, retain separate advisers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096512" y="2377440"/>
            <a:ext cx="384048" cy="384048"/>
          </a:xfrm>
          <a:prstGeom prst="ellipse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096512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E1A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941064" y="2880360"/>
            <a:ext cx="1078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Negotiations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941064" y="3246120"/>
            <a:ext cx="1078992" cy="128016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4005072" y="3337560"/>
            <a:ext cx="9692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Parties exchange proposals; information sharing under 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266944" y="2377440"/>
            <a:ext cx="384048" cy="38404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266944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E1A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111496" y="2880360"/>
            <a:ext cx="1078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Proposal Launch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111496" y="3246120"/>
            <a:ext cx="1078992" cy="128016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5175504" y="3337560"/>
            <a:ext cx="9692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Formal restructuring plan presented to all creditor groups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437376" y="2377440"/>
            <a:ext cx="384048" cy="38404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6437376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E1A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281928" y="2880360"/>
            <a:ext cx="1078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Voting / Consent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281928" y="3246120"/>
            <a:ext cx="1078992" cy="128016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6345936" y="3337560"/>
            <a:ext cx="9692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Creditors vote; majority thresholds determine outcome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7607808" y="2377440"/>
            <a:ext cx="384048" cy="384048"/>
          </a:xfrm>
          <a:prstGeom prst="ellipse">
            <a:avLst/>
          </a:prstGeom>
          <a:solidFill>
            <a:srgbClr val="3DC78C"/>
          </a:solidFill>
          <a:ln cap="flat" cmpd="sng" w="12700">
            <a:solidFill>
              <a:srgbClr val="3DC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7607808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E1A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7452360" y="2880360"/>
            <a:ext cx="1078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452360" y="3246120"/>
            <a:ext cx="1078992" cy="128016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7516368" y="3337560"/>
            <a:ext cx="9692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Legal and financial steps to execute the agreed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84048" y="1508760"/>
            <a:ext cx="8366760" cy="566928"/>
          </a:xfrm>
          <a:prstGeom prst="rect">
            <a:avLst/>
          </a:prstGeom>
          <a:solidFill>
            <a:srgbClr val="131D30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548640" y="158191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1F4"/>
                </a:solidFill>
                <a:latin typeface="Calibri"/>
                <a:ea typeface="Calibri"/>
                <a:cs typeface="Calibri"/>
                <a:sym typeface="Calibri"/>
              </a:rPr>
              <a:t>KEY PARTICIPANTS: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2286000" y="1581912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Company Management   ·   PE Sponsors   ·   Banks   ·   Bondholders   ·   Hedge Funds   ·   Law Firms   ·   Financial Advisers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22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411480" y="292608"/>
            <a:ext cx="1901952" cy="256032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411480" y="292608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08 / PROCESSES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11480" y="62179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In-Court vs Out-of-Court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Different tools for different situations — speed, disruption, and creditor consent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84048" y="1572768"/>
            <a:ext cx="3977640" cy="32004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84048" y="1572768"/>
            <a:ext cx="3977640" cy="64008"/>
          </a:xfrm>
          <a:prstGeom prst="rect">
            <a:avLst/>
          </a:prstGeom>
          <a:solidFill>
            <a:srgbClr val="3DC78C"/>
          </a:solidFill>
          <a:ln cap="flat" cmpd="sng" w="12700">
            <a:solidFill>
              <a:srgbClr val="3DC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548640" y="17099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C78C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3DC78C"/>
                </a:solidFill>
                <a:latin typeface="Trebuchet MS"/>
                <a:ea typeface="Trebuchet MS"/>
                <a:cs typeface="Trebuchet MS"/>
                <a:sym typeface="Trebuchet MS"/>
              </a:rPr>
              <a:t>OUT-OF-COURT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66928" y="208483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C78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3DC78C"/>
                </a:solidFill>
                <a:latin typeface="Trebuchet MS"/>
                <a:ea typeface="Trebuchet MS"/>
                <a:cs typeface="Trebuchet MS"/>
                <a:sym typeface="Trebuchet MS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932688" y="212140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Faster to execute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66928" y="246888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C78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3DC78C"/>
                </a:solidFill>
                <a:latin typeface="Trebuchet MS"/>
                <a:ea typeface="Trebuchet MS"/>
                <a:cs typeface="Trebuchet MS"/>
                <a:sym typeface="Trebuchet MS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932688" y="2505456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Less business disruption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66928" y="2852928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C78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3DC78C"/>
                </a:solidFill>
                <a:latin typeface="Trebuchet MS"/>
                <a:ea typeface="Trebuchet MS"/>
                <a:cs typeface="Trebuchet MS"/>
                <a:sym typeface="Trebuchet MS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932688" y="2889504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Cheaper — fewer court costs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66928" y="323697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C78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3DC78C"/>
                </a:solidFill>
                <a:latin typeface="Trebuchet MS"/>
                <a:ea typeface="Trebuchet MS"/>
                <a:cs typeface="Trebuchet MS"/>
                <a:sym typeface="Trebuchet MS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932688" y="327355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Confidential process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66928" y="362102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932688" y="365760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Requires high creditor consent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66928" y="400507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932688" y="404164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Holdout creditors can block deal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773168" y="1572768"/>
            <a:ext cx="3977640" cy="32004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4773168" y="1572768"/>
            <a:ext cx="3977640" cy="640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4937760" y="17099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IN-COURT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937760" y="20848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11 (US)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937760" y="23774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Debtor-in-possession; reorganisation under court supervision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937760" y="28895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UK Restructuring Plan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937760" y="318211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Flexible court tool; cross-class cram-down available since 2020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937760" y="36941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Administration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937760" y="398678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UK insolvency process; administrator takes control of company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84048" y="4846320"/>
            <a:ext cx="8366760" cy="182880"/>
          </a:xfrm>
          <a:prstGeom prst="rect">
            <a:avLst/>
          </a:prstGeom>
          <a:solidFill>
            <a:srgbClr val="1A2438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02920" y="4892040"/>
            <a:ext cx="8138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591F4"/>
                </a:solidFill>
                <a:latin typeface="Calibri"/>
                <a:ea typeface="Calibri"/>
                <a:cs typeface="Calibri"/>
                <a:sym typeface="Calibri"/>
              </a:rPr>
              <a:t>CRAM-DOWN: Courts can impose a restructuring plan on dissenting creditor classes provided certain conditions are met — a key tool in court-led processes.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220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411480" y="292608"/>
            <a:ext cx="2340864" cy="256032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411480" y="292608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09 / INVESTOR 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11480" y="62179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Credit Investors Focus 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The analytical framework — from initial screening to deep-dive diligence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384048" y="1572768"/>
            <a:ext cx="2697480" cy="301752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384048" y="1572768"/>
            <a:ext cx="2697480" cy="64008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548640" y="170992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2A8"/>
                </a:solidFill>
                <a:latin typeface="Trebuchet MS"/>
                <a:ea typeface="Trebuchet MS"/>
                <a:cs typeface="Trebuchet MS"/>
                <a:sym typeface="Trebuchet MS"/>
              </a:rPr>
              <a:t>Liquidity &amp; Cash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566928" y="2121408"/>
            <a:ext cx="45720" cy="27432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731520" y="213969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Cash runway (months)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66928" y="2688336"/>
            <a:ext cx="45720" cy="27432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731520" y="2706624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Free cash flow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566928" y="3255264"/>
            <a:ext cx="45720" cy="27432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731520" y="3273552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Undrawn revolving facility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566928" y="3822192"/>
            <a:ext cx="45720" cy="27432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731520" y="3840480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Near-term debt maturities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246120" y="1572768"/>
            <a:ext cx="2697480" cy="301752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3246120" y="1572768"/>
            <a:ext cx="2697480" cy="64008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3410712" y="170992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591F4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429000" y="2121408"/>
            <a:ext cx="45720" cy="27432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3593592" y="213969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Offering memorandums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3429000" y="2688336"/>
            <a:ext cx="45720" cy="27432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3593592" y="2706624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Credit agreements &amp; indentures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3429000" y="3255264"/>
            <a:ext cx="45720" cy="27432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3593592" y="3273552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Covenant package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429000" y="3822192"/>
            <a:ext cx="45720" cy="27432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3593592" y="3840480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Restricted payments &amp; baskets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6108192" y="1572768"/>
            <a:ext cx="2697480" cy="301752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6108192" y="1572768"/>
            <a:ext cx="2697480" cy="640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6272784" y="170992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Valuation &amp; Recovery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6291072" y="2121408"/>
            <a:ext cx="45720" cy="2743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455664" y="213969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Enterprise value estimates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291072" y="2688336"/>
            <a:ext cx="45720" cy="2743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6455664" y="2706624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Recovery waterfall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291072" y="3255264"/>
            <a:ext cx="45720" cy="2743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6455664" y="3273552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Comparable transactions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6291072" y="3822192"/>
            <a:ext cx="45720" cy="2743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6455664" y="3840480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Who owns the debt?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384048" y="4681728"/>
            <a:ext cx="8366760" cy="384048"/>
          </a:xfrm>
          <a:prstGeom prst="rect">
            <a:avLst/>
          </a:prstGeom>
          <a:solidFill>
            <a:srgbClr val="131D30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548640" y="475488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1F4"/>
                </a:solidFill>
                <a:latin typeface="Calibri"/>
                <a:ea typeface="Calibri"/>
                <a:cs typeface="Calibri"/>
                <a:sym typeface="Calibri"/>
              </a:rPr>
              <a:t>TRADING LEVELS: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2103120" y="4754880"/>
            <a:ext cx="109728" cy="219456"/>
          </a:xfrm>
          <a:prstGeom prst="rect">
            <a:avLst/>
          </a:prstGeom>
          <a:solidFill>
            <a:srgbClr val="3DC78C"/>
          </a:solidFill>
          <a:ln cap="flat" cmpd="sng" w="12700">
            <a:solidFill>
              <a:srgbClr val="3DC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2286000" y="475488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100 = Par  Trading at face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3767328" y="4754880"/>
            <a:ext cx="109728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3950208" y="475488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~90-100  Minor stress / market moves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431536" y="4754880"/>
            <a:ext cx="109728" cy="219456"/>
          </a:xfrm>
          <a:prstGeom prst="rect">
            <a:avLst/>
          </a:prstGeom>
          <a:solidFill>
            <a:srgbClr val="0070CC"/>
          </a:solidFill>
          <a:ln cap="flat" cmpd="sng" w="12700">
            <a:solidFill>
              <a:srgbClr val="007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5614416" y="475488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~80-90  Elevated concern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7095744" y="4754880"/>
            <a:ext cx="109728" cy="21945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7278624" y="475488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Below ~80  Distressed territory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51C2E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9098280" y="0"/>
            <a:ext cx="45720" cy="514350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1371600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2"/>
          <p:cNvSpPr/>
          <p:nvPr/>
        </p:nvSpPr>
        <p:spPr>
          <a:xfrm>
            <a:off x="457200" y="8686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57200" y="1481328"/>
            <a:ext cx="2011680" cy="45720"/>
          </a:xfrm>
          <a:prstGeom prst="rect">
            <a:avLst/>
          </a:prstGeom>
          <a:solidFill>
            <a:srgbClr val="0591F4"/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457200" y="1700784"/>
            <a:ext cx="502920" cy="320040"/>
          </a:xfrm>
          <a:prstGeom prst="rect">
            <a:avLst/>
          </a:prstGeom>
          <a:solidFill>
            <a:srgbClr val="3B82F6">
              <a:alpha val="8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457200" y="1700784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IG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078992" y="170992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Lower risk, tighter spreads, institutional demand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457200" y="2221992"/>
            <a:ext cx="50292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457200" y="22219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HY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1078992" y="22311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Higher leverage, higher yields, covenant analysis critical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57200" y="2743200"/>
            <a:ext cx="502920" cy="320040"/>
          </a:xfrm>
          <a:prstGeom prst="rect">
            <a:avLst/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457200" y="274320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DST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1078992" y="275234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Severe stress — recovery value and who owns debt is everything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457200" y="3264408"/>
            <a:ext cx="502920" cy="320040"/>
          </a:xfrm>
          <a:prstGeom prst="rect">
            <a:avLst/>
          </a:prstGeom>
          <a:solidFill>
            <a:srgbClr val="00C2A8">
              <a:alpha val="80000"/>
            </a:srgbClr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457200" y="326440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0C2A8"/>
                </a:solidFill>
                <a:latin typeface="Trebuchet MS"/>
                <a:ea typeface="Trebuchet MS"/>
                <a:cs typeface="Trebuchet MS"/>
                <a:sym typeface="Trebuchet MS"/>
              </a:rPr>
              <a:t>CAP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1078992" y="32735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Capital structure priority determines outcomes in distress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7200" y="3785616"/>
            <a:ext cx="502920" cy="320040"/>
          </a:xfrm>
          <a:prstGeom prst="rect">
            <a:avLst/>
          </a:prstGeom>
          <a:solidFill>
            <a:srgbClr val="0591F4">
              <a:alpha val="80000"/>
            </a:srgbClr>
          </a:solidFill>
          <a:ln cap="flat" cmpd="sng" w="12700">
            <a:solidFill>
              <a:srgbClr val="059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457200" y="3785616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591F4"/>
                </a:solidFill>
                <a:latin typeface="Trebuchet MS"/>
                <a:ea typeface="Trebuchet MS"/>
                <a:cs typeface="Trebuchet MS"/>
                <a:sym typeface="Trebuchet MS"/>
              </a:rPr>
              <a:t>LME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1078992" y="3794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Documentation matters more than ever — read the covenants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457200" y="4306824"/>
            <a:ext cx="502920" cy="320040"/>
          </a:xfrm>
          <a:prstGeom prst="rect">
            <a:avLst/>
          </a:prstGeom>
          <a:solidFill>
            <a:srgbClr val="3DC78C">
              <a:alpha val="80000"/>
            </a:srgbClr>
          </a:solidFill>
          <a:ln cap="flat" cmpd="sng" w="12700">
            <a:solidFill>
              <a:srgbClr val="3DC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457200" y="4306824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C78C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3DC78C"/>
                </a:solidFill>
                <a:latin typeface="Trebuchet MS"/>
                <a:ea typeface="Trebuchet MS"/>
                <a:cs typeface="Trebuchet MS"/>
                <a:sym typeface="Trebuchet MS"/>
              </a:rPr>
              <a:t>LIQ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1078992" y="431596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CF4"/>
                </a:solidFill>
                <a:latin typeface="Calibri"/>
                <a:ea typeface="Calibri"/>
                <a:cs typeface="Calibri"/>
                <a:sym typeface="Calibri"/>
              </a:rPr>
              <a:t>Liquidity runway is the first metric to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6400800" y="1005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1F4"/>
                </a:solidFill>
                <a:latin typeface="Calibri"/>
                <a:ea typeface="Calibri"/>
                <a:cs typeface="Calibri"/>
                <a:sym typeface="Calibri"/>
              </a:rPr>
              <a:t>FINAL THOUGHT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6400800" y="13716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The credit market is ultimately about three things: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6400800" y="1920240"/>
            <a:ext cx="2468880" cy="749808"/>
          </a:xfrm>
          <a:prstGeom prst="rect">
            <a:avLst/>
          </a:prstGeom>
          <a:solidFill>
            <a:srgbClr val="1A2438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6565392" y="199339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591F4"/>
                </a:solidFill>
                <a:latin typeface="Trebuchet MS"/>
                <a:ea typeface="Trebuchet MS"/>
                <a:cs typeface="Trebuchet MS"/>
                <a:sym typeface="Trebuchet MS"/>
              </a:rPr>
              <a:t>Risk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6565392" y="23042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Can they pay it back?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6400800" y="2807208"/>
            <a:ext cx="2468880" cy="749808"/>
          </a:xfrm>
          <a:prstGeom prst="rect">
            <a:avLst/>
          </a:prstGeom>
          <a:solidFill>
            <a:srgbClr val="1A2438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6565392" y="28803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591F4"/>
                </a:solidFill>
                <a:latin typeface="Trebuchet MS"/>
                <a:ea typeface="Trebuchet MS"/>
                <a:cs typeface="Trebuchet MS"/>
                <a:sym typeface="Trebuchet MS"/>
              </a:rPr>
              <a:t>Pricing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6565392" y="319125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Are you compensated?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400800" y="3694176"/>
            <a:ext cx="2468880" cy="749808"/>
          </a:xfrm>
          <a:prstGeom prst="rect">
            <a:avLst/>
          </a:prstGeom>
          <a:solidFill>
            <a:srgbClr val="1A2438"/>
          </a:solidFill>
          <a:ln cap="flat" cmpd="sng" w="12700">
            <a:solidFill>
              <a:srgbClr val="1F2D4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6565392" y="37673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1F4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591F4"/>
                </a:solidFill>
                <a:latin typeface="Trebuchet MS"/>
                <a:ea typeface="Trebuchet MS"/>
                <a:cs typeface="Trebuchet MS"/>
                <a:sym typeface="Trebuchet MS"/>
              </a:rPr>
              <a:t>Recovery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6565392" y="40782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If not, what do you get?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9fin Training Series  ·  Restructuring &amp; Credit Markets 101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